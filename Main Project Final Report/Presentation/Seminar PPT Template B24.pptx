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22"/>
  </p:notesMasterIdLst>
  <p:handoutMasterIdLst>
    <p:handoutMasterId r:id="rId23"/>
  </p:handoutMasterIdLst>
  <p:sldIdLst>
    <p:sldId id="410" r:id="rId5"/>
    <p:sldId id="383" r:id="rId6"/>
    <p:sldId id="391" r:id="rId7"/>
    <p:sldId id="411" r:id="rId8"/>
    <p:sldId id="412" r:id="rId9"/>
    <p:sldId id="408" r:id="rId10"/>
    <p:sldId id="423" r:id="rId11"/>
    <p:sldId id="413" r:id="rId12"/>
    <p:sldId id="420" r:id="rId13"/>
    <p:sldId id="422" r:id="rId14"/>
    <p:sldId id="418" r:id="rId15"/>
    <p:sldId id="419" r:id="rId16"/>
    <p:sldId id="414" r:id="rId17"/>
    <p:sldId id="415" r:id="rId18"/>
    <p:sldId id="416" r:id="rId19"/>
    <p:sldId id="417" r:id="rId20"/>
    <p:sldId id="398" r:id="rId21"/>
  </p:sldIdLst>
  <p:sldSz cx="12192000" cy="6858000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6327" autoAdjust="0"/>
  </p:normalViewPr>
  <p:slideViewPr>
    <p:cSldViewPr snapToGrid="0">
      <p:cViewPr varScale="1">
        <p:scale>
          <a:sx n="69" d="100"/>
          <a:sy n="69" d="100"/>
        </p:scale>
        <p:origin x="780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BEDD12-BCD5-485B-BCBC-34BB01D7923C}" type="datetimeFigureOut">
              <a:rPr lang="en-US" smtClean="0"/>
              <a:pPr/>
              <a:t>1/24/2026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230DF-5933-439D-898F-38E9AC9BA68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7A52F-9D89-7442-A8E9-48D1527B5F6B}" type="datetimeFigureOut">
              <a:rPr lang="en-US" smtClean="0"/>
              <a:pPr/>
              <a:t>1/24/2026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C7E07-3C67-C64C-8DA0-0404F630397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305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932A1-C936-CF67-A673-09CEB499F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EC41C0-1F7D-6338-2E81-2DB9CCB8D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862D1A-24CB-B3F5-7356-F82F22541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AFD2A-7FF3-D2C4-FD64-93EDE8462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688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C7E07-3C67-C64C-8DA0-0404F6303970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Shap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 spc="50" baseline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en-US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>
            <a:no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e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9436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Shap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sz="2000"/>
            </a:lvl3pPr>
            <a:lvl4pPr marL="1371600" indent="0">
              <a:spcBef>
                <a:spcPts val="1800"/>
              </a:spcBef>
              <a:buFont typeface="+mj-lt"/>
              <a:buNone/>
              <a:defRPr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283464" indent="-283464">
              <a:spcBef>
                <a:spcPts val="1800"/>
              </a:spcBef>
              <a:defRPr sz="2000"/>
            </a:lvl2pPr>
            <a:lvl3pPr marL="548640" indent="-283464">
              <a:spcBef>
                <a:spcPts val="1800"/>
              </a:spcBef>
              <a:defRPr sz="2000"/>
            </a:lvl3pPr>
            <a:lvl4pPr marL="822960" indent="-283464">
              <a:spcBef>
                <a:spcPts val="1800"/>
              </a:spcBef>
              <a:defRPr sz="2000"/>
            </a:lvl4pPr>
            <a:lvl5pPr marL="1005840"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indent="-283464">
              <a:spcBef>
                <a:spcPts val="1800"/>
              </a:spcBef>
              <a:defRPr sz="2000"/>
            </a:lvl2pPr>
            <a:lvl3pPr indent="-283464">
              <a:spcBef>
                <a:spcPts val="1800"/>
              </a:spcBef>
              <a:defRPr sz="2000"/>
            </a:lvl3pPr>
            <a:lvl4pPr indent="-283464">
              <a:spcBef>
                <a:spcPts val="1800"/>
              </a:spcBef>
              <a:defRPr sz="2000"/>
            </a:lvl4pPr>
            <a:lvl5pPr indent="-283464"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sz="2000"/>
            </a:lvl1pPr>
            <a:lvl2pPr marL="457200" indent="0">
              <a:spcBef>
                <a:spcPts val="1800"/>
              </a:spcBef>
              <a:buNone/>
              <a:defRPr sz="2000"/>
            </a:lvl2pPr>
            <a:lvl3pPr marL="914400" indent="0">
              <a:spcBef>
                <a:spcPts val="1800"/>
              </a:spcBef>
              <a:buNone/>
              <a:defRPr sz="2000"/>
            </a:lvl3pPr>
            <a:lvl4pPr marL="1371600" indent="0">
              <a:spcBef>
                <a:spcPts val="1800"/>
              </a:spcBef>
              <a:buNone/>
              <a:defRPr sz="2000"/>
            </a:lvl4pPr>
            <a:lvl5pPr marL="1828800" indent="0">
              <a:spcBef>
                <a:spcPts val="1800"/>
              </a:spcBef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>
            <a:normAutofit/>
          </a:bodyPr>
          <a:lstStyle>
            <a:lvl1pPr marL="0" indent="0">
              <a:spcBef>
                <a:spcPts val="1800"/>
              </a:spcBef>
              <a:buNone/>
              <a:defRPr sz="2000"/>
            </a:lvl1pPr>
            <a:lvl2pPr>
              <a:spcBef>
                <a:spcPts val="6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sz="2000"/>
            </a:lvl1pPr>
            <a:lvl2pPr>
              <a:spcBef>
                <a:spcPts val="1800"/>
              </a:spcBef>
              <a:defRPr sz="2000"/>
            </a:lvl2pPr>
            <a:lvl3pPr>
              <a:spcBef>
                <a:spcPts val="1800"/>
              </a:spcBef>
              <a:defRPr sz="2000"/>
            </a:lvl3pPr>
            <a:lvl4pPr>
              <a:spcBef>
                <a:spcPts val="1800"/>
              </a:spcBef>
              <a:defRPr sz="2000"/>
            </a:lvl4pPr>
            <a:lvl5pPr>
              <a:spcBef>
                <a:spcPts val="1800"/>
              </a:spcBef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sp>
        <p:nvSpPr>
          <p:cNvPr id="9" name="Table Placehold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lnSpc>
                <a:spcPct val="80000"/>
              </a:lnSpc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0" i="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 i="0">
                <a:solidFill>
                  <a:schemeClr val="bg1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logo with a bull in the center&#10;&#10;Description automatically generated">
            <a:extLst>
              <a:ext uri="{FF2B5EF4-FFF2-40B4-BE49-F238E27FC236}">
                <a16:creationId xmlns:a16="http://schemas.microsoft.com/office/drawing/2014/main" id="{C2D5C6BF-4AD7-D107-7D8E-369740A05ADB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6273" y="6178613"/>
            <a:ext cx="523240" cy="570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eee.org/documents/ieeecitationref.pdf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523" y="333452"/>
            <a:ext cx="9889755" cy="548537"/>
          </a:xfrm>
        </p:spPr>
        <p:txBody>
          <a:bodyPr/>
          <a:lstStyle/>
          <a:p>
            <a:r>
              <a:rPr lang="en-US" sz="3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Siddaganga Institute of Technology, Tumkur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3832313-2DB6-5813-E9EC-631E15D3AC49}"/>
              </a:ext>
            </a:extLst>
          </p:cNvPr>
          <p:cNvSpPr txBox="1">
            <a:spLocks/>
          </p:cNvSpPr>
          <p:nvPr/>
        </p:nvSpPr>
        <p:spPr>
          <a:xfrm>
            <a:off x="1353401" y="881989"/>
            <a:ext cx="9276932" cy="843469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Master of Computer Applications </a:t>
            </a:r>
          </a:p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(Program Accredited by NBA)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EEEA41-E99A-C682-DF3E-38789F47322B}"/>
              </a:ext>
            </a:extLst>
          </p:cNvPr>
          <p:cNvSpPr txBox="1">
            <a:spLocks/>
          </p:cNvSpPr>
          <p:nvPr/>
        </p:nvSpPr>
        <p:spPr>
          <a:xfrm>
            <a:off x="1219523" y="4664566"/>
            <a:ext cx="2568055" cy="52816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Prashanth G K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1870284-5AB4-EA58-8C04-51E216D48E1C}"/>
              </a:ext>
            </a:extLst>
          </p:cNvPr>
          <p:cNvSpPr txBox="1">
            <a:spLocks/>
          </p:cNvSpPr>
          <p:nvPr/>
        </p:nvSpPr>
        <p:spPr>
          <a:xfrm>
            <a:off x="3254047" y="3332752"/>
            <a:ext cx="8256897" cy="52816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Code-A-Thon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4162F6-ABFE-2AC7-D9CB-F0E03B2D86A8}"/>
              </a:ext>
            </a:extLst>
          </p:cNvPr>
          <p:cNvSpPr txBox="1">
            <a:spLocks/>
          </p:cNvSpPr>
          <p:nvPr/>
        </p:nvSpPr>
        <p:spPr>
          <a:xfrm>
            <a:off x="6914778" y="5976011"/>
            <a:ext cx="4194500" cy="52816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Jeevan G  (1SI24MC019)</a:t>
            </a:r>
          </a:p>
        </p:txBody>
      </p:sp>
      <p:pic>
        <p:nvPicPr>
          <p:cNvPr id="9" name="Picture 8" descr="A person with orange turban and white powder on his face&#10;&#10;Description automatically generated">
            <a:extLst>
              <a:ext uri="{FF2B5EF4-FFF2-40B4-BE49-F238E27FC236}">
                <a16:creationId xmlns:a16="http://schemas.microsoft.com/office/drawing/2014/main" id="{A3031DD0-D82F-63BC-4FA3-4053FCF10E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5" y="68355"/>
            <a:ext cx="1110518" cy="1456445"/>
          </a:xfrm>
          <a:prstGeom prst="rect">
            <a:avLst/>
          </a:prstGeom>
        </p:spPr>
      </p:pic>
      <p:pic>
        <p:nvPicPr>
          <p:cNvPr id="11" name="Picture 10" descr="A person with white powder on his face&#10;&#10;Description automatically generated">
            <a:extLst>
              <a:ext uri="{FF2B5EF4-FFF2-40B4-BE49-F238E27FC236}">
                <a16:creationId xmlns:a16="http://schemas.microsoft.com/office/drawing/2014/main" id="{BFE6F199-2B55-6B00-FBD6-A28EF5CE466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2633" y="187784"/>
            <a:ext cx="1310362" cy="133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4660663" cy="3709987"/>
          </a:xfrm>
        </p:spPr>
        <p:txBody>
          <a:bodyPr tIns="457200">
            <a:normAutofit fontScale="85000" lnSpcReduction="10000"/>
          </a:bodyPr>
          <a:lstStyle/>
          <a:p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 </a:t>
            </a:r>
          </a:p>
          <a:p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 </a:t>
            </a: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Methodology</a:t>
            </a: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and Discussion</a:t>
            </a: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Conclusions and Future Enhancement</a:t>
            </a:r>
            <a:endParaRPr lang="en-IN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Abstract(One Slide)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70370" y="2301106"/>
            <a:ext cx="9655584" cy="3700462"/>
          </a:xfrm>
        </p:spPr>
        <p:txBody>
          <a:bodyPr>
            <a:normAutofit/>
          </a:bodyPr>
          <a:lstStyle/>
          <a:p>
            <a:pPr algn="just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Code-A-Thon Online Assessment Platform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web-based system designed to conduct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secure, scalable, and efficient online examinations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consisting of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multiple-choice questions (MCQs) and coding challenges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Traditional examination systems face challenges such as lack of automation, scalability issues, delayed evaluation, and limited flexibility in exam creation.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aims to overcome these limitations by providing 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dynamic, role-based assessment platform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the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MERN stack (MongoDB, Express.js, React.js, Node.js)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 platform enables administrators to create exams, manage questions, schedule assessments, and evaluate results efficiently. Students can securely log in, attempt exams within a time limit, submit answers, and view results.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supports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exam flow, automatic MCQ evaluation, coding question submission, and centralized data management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 platform is designed to be scalable, user-friendly, and adaptable for academic institutions and technical recruitment processes.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( One Slide)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41418" y="2050473"/>
            <a:ext cx="8700655" cy="44057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: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rapid growth of online education and recruitment, there is a strong need for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reliable online examination platforms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Existing systems often lack flexibility, scalability, or automation.</a:t>
            </a:r>
          </a:p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 :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and semi-automated examination systems are: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Time-consuming</a:t>
            </a:r>
          </a:p>
          <a:p>
            <a:pPr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Error-prone</a:t>
            </a:r>
          </a:p>
          <a:p>
            <a:pPr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scale</a:t>
            </a:r>
          </a:p>
          <a:p>
            <a:pPr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Inefficient in evaluation</a:t>
            </a:r>
          </a:p>
          <a:p>
            <a:pPr marL="0" indent="0" algn="just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 and Scope :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purpose of this project is to design and develop a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fully automated online assessment platform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supports both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MCQ and coding-based evaluations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Stakeholders</a:t>
            </a:r>
          </a:p>
          <a:p>
            <a:pPr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</a:t>
            </a:r>
          </a:p>
          <a:p>
            <a:pPr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Faculty / Administrators</a:t>
            </a:r>
          </a:p>
          <a:p>
            <a:pPr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Educational Institutions</a:t>
            </a:r>
          </a:p>
          <a:p>
            <a:pPr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Recruitment Organizations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28742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0817" y="494760"/>
            <a:ext cx="10873740" cy="1680205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93EAF1D-C04A-2B18-6117-6E82FA60D67B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xfrm>
            <a:off x="2162630" y="2766597"/>
            <a:ext cx="895712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design and implement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web-based online assessment system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the MERN stack.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enable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dynamic exam and question management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administrators.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provide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secure, automated evaluation and result generation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students.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 (2 or 3 slides) 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1D27EB8-4830-4ECB-8BD8-A42B69C9B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747126"/>
              </p:ext>
            </p:extLst>
          </p:nvPr>
        </p:nvGraphicFramePr>
        <p:xfrm>
          <a:off x="593726" y="2401094"/>
          <a:ext cx="10382248" cy="3505200"/>
        </p:xfrm>
        <a:graphic>
          <a:graphicData uri="http://schemas.openxmlformats.org/drawingml/2006/table">
            <a:tbl>
              <a:tblPr/>
              <a:tblGrid>
                <a:gridCol w="2595562">
                  <a:extLst>
                    <a:ext uri="{9D8B030D-6E8A-4147-A177-3AD203B41FA5}">
                      <a16:colId xmlns:a16="http://schemas.microsoft.com/office/drawing/2014/main" val="2422882718"/>
                    </a:ext>
                  </a:extLst>
                </a:gridCol>
                <a:gridCol w="2595562">
                  <a:extLst>
                    <a:ext uri="{9D8B030D-6E8A-4147-A177-3AD203B41FA5}">
                      <a16:colId xmlns:a16="http://schemas.microsoft.com/office/drawing/2014/main" val="1367803024"/>
                    </a:ext>
                  </a:extLst>
                </a:gridCol>
                <a:gridCol w="2595562">
                  <a:extLst>
                    <a:ext uri="{9D8B030D-6E8A-4147-A177-3AD203B41FA5}">
                      <a16:colId xmlns:a16="http://schemas.microsoft.com/office/drawing/2014/main" val="2829988676"/>
                    </a:ext>
                  </a:extLst>
                </a:gridCol>
                <a:gridCol w="2595562">
                  <a:extLst>
                    <a:ext uri="{9D8B030D-6E8A-4147-A177-3AD203B41FA5}">
                      <a16:colId xmlns:a16="http://schemas.microsoft.com/office/drawing/2014/main" val="364170375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 / Year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/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Contributions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06849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Sharma et al., 2021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Online Examination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MCQ evaluation, role-based login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coding assessment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08783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Kumar &amp; Singh, 2022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Web-Based Assessment Tool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Exam scheduling, result analytics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scalability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854514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Patel et al., 2022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Cloud-Based Exam Platform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Secure authentication, cloud storage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operational cost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891489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 et al., 2023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Smart Online Testing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Timer-based exams, randomized questions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Poor UI usability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017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66216-8F70-A766-8B14-8B2E3F977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D601F-BA53-7E63-6735-86340D94B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F67D7E-5248-5D5A-C224-8655B14B44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9012004"/>
              </p:ext>
            </p:extLst>
          </p:nvPr>
        </p:nvGraphicFramePr>
        <p:xfrm>
          <a:off x="593726" y="2675414"/>
          <a:ext cx="10382248" cy="2895600"/>
        </p:xfrm>
        <a:graphic>
          <a:graphicData uri="http://schemas.openxmlformats.org/drawingml/2006/table">
            <a:tbl>
              <a:tblPr/>
              <a:tblGrid>
                <a:gridCol w="2595562">
                  <a:extLst>
                    <a:ext uri="{9D8B030D-6E8A-4147-A177-3AD203B41FA5}">
                      <a16:colId xmlns:a16="http://schemas.microsoft.com/office/drawing/2014/main" val="1779912391"/>
                    </a:ext>
                  </a:extLst>
                </a:gridCol>
                <a:gridCol w="2595562">
                  <a:extLst>
                    <a:ext uri="{9D8B030D-6E8A-4147-A177-3AD203B41FA5}">
                      <a16:colId xmlns:a16="http://schemas.microsoft.com/office/drawing/2014/main" val="326444719"/>
                    </a:ext>
                  </a:extLst>
                </a:gridCol>
                <a:gridCol w="2595562">
                  <a:extLst>
                    <a:ext uri="{9D8B030D-6E8A-4147-A177-3AD203B41FA5}">
                      <a16:colId xmlns:a16="http://schemas.microsoft.com/office/drawing/2014/main" val="2733417503"/>
                    </a:ext>
                  </a:extLst>
                </a:gridCol>
                <a:gridCol w="2595562">
                  <a:extLst>
                    <a:ext uri="{9D8B030D-6E8A-4147-A177-3AD203B41FA5}">
                      <a16:colId xmlns:a16="http://schemas.microsoft.com/office/drawing/2014/main" val="337205797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 / Year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 /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Contributions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08746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Ahmed et al., 2023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Secure Online Exam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Encryption, secure login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real-time monitoring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56363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Rao &amp; Mehta, 2023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E-Assessment Platform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 result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MCQ-only support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806612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Zhang et al., 2024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AI-Enabled Assessment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Adaptive testing, analytics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Complex implementation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35695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Wilson et al., 2024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Scalable Web Exam Platform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concurrency handling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integrated coding tests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4014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4991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580504" y="2496416"/>
            <a:ext cx="10752513" cy="355802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Project Planning</a:t>
            </a:r>
            <a:endParaRPr lang="en-US" dirty="0"/>
          </a:p>
          <a:p>
            <a:r>
              <a:rPr lang="en-US" dirty="0"/>
              <a:t>Requirement analysis of online assessment systems</a:t>
            </a:r>
          </a:p>
          <a:p>
            <a:r>
              <a:rPr lang="en-US" dirty="0"/>
              <a:t>Identification of functional and non-functional requirements</a:t>
            </a:r>
          </a:p>
          <a:p>
            <a:r>
              <a:rPr lang="en-US" dirty="0"/>
              <a:t>Selection of MERN stack for development</a:t>
            </a:r>
          </a:p>
          <a:p>
            <a:r>
              <a:rPr lang="en-US" dirty="0"/>
              <a:t>Planning development, testing, and deployment phases</a:t>
            </a:r>
          </a:p>
          <a:p>
            <a:r>
              <a:rPr lang="en-US" b="1" dirty="0"/>
              <a:t>Methodology Adopted</a:t>
            </a:r>
            <a:endParaRPr lang="en-US" dirty="0"/>
          </a:p>
          <a:p>
            <a:r>
              <a:rPr lang="en-US" dirty="0"/>
              <a:t>Iterative development approach</a:t>
            </a:r>
          </a:p>
          <a:p>
            <a:r>
              <a:rPr lang="en-US" dirty="0"/>
              <a:t>Modular implementation</a:t>
            </a:r>
          </a:p>
          <a:p>
            <a:r>
              <a:rPr lang="en-US" dirty="0"/>
              <a:t>Continuous testing and validation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633CA-9163-063F-A210-8C83EDEAF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0B930-0DDF-DCF7-269C-CB38900CA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999BE-AA2C-F987-4A9C-6A6349ED6B8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80504" y="2496416"/>
            <a:ext cx="10752513" cy="3558020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Stakeholders Identification &amp; Roles</a:t>
            </a:r>
          </a:p>
          <a:p>
            <a:r>
              <a:rPr lang="en-IN" b="1" dirty="0"/>
              <a:t>Admin</a:t>
            </a:r>
            <a:r>
              <a:rPr lang="en-IN" dirty="0"/>
              <a:t>: Exam creation, question management, result monitoring</a:t>
            </a:r>
          </a:p>
          <a:p>
            <a:r>
              <a:rPr lang="en-IN" b="1" dirty="0"/>
              <a:t>Student</a:t>
            </a:r>
            <a:r>
              <a:rPr lang="en-IN" dirty="0"/>
              <a:t>: Exam participation and result viewing</a:t>
            </a:r>
          </a:p>
          <a:p>
            <a:r>
              <a:rPr lang="en-IN" b="1" dirty="0"/>
              <a:t>System</a:t>
            </a:r>
            <a:r>
              <a:rPr lang="en-IN" dirty="0"/>
              <a:t>: Authentication, evaluation, data storage</a:t>
            </a:r>
          </a:p>
          <a:p>
            <a:r>
              <a:rPr lang="en-IN" b="1" dirty="0"/>
              <a:t>Data Collection</a:t>
            </a:r>
          </a:p>
          <a:p>
            <a:r>
              <a:rPr lang="en-IN" dirty="0"/>
              <a:t>Student registration details</a:t>
            </a:r>
          </a:p>
          <a:p>
            <a:r>
              <a:rPr lang="en-IN" dirty="0"/>
              <a:t>Exam and question data</a:t>
            </a:r>
          </a:p>
          <a:p>
            <a:r>
              <a:rPr lang="en-IN" dirty="0"/>
              <a:t>Student responses and results</a:t>
            </a:r>
          </a:p>
          <a:p>
            <a:r>
              <a:rPr lang="en-IN" dirty="0"/>
              <a:t>Stored securely in MongoDB</a:t>
            </a:r>
          </a:p>
        </p:txBody>
      </p:sp>
    </p:spTree>
    <p:extLst>
      <p:ext uri="{BB962C8B-B14F-4D97-AF65-F5344CB8AC3E}">
        <p14:creationId xmlns:p14="http://schemas.microsoft.com/office/powerpoint/2010/main" val="2471744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DF402-C3BE-3D68-4778-3E8460F89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42F28-CE84-1A17-21F4-788128CBA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B12DF-A452-EC3F-F5B3-1CA602950DA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80504" y="2496416"/>
            <a:ext cx="10752513" cy="3558020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Workflow Description</a:t>
            </a:r>
          </a:p>
          <a:p>
            <a:r>
              <a:rPr lang="en-US" dirty="0"/>
              <a:t>Admin logs in and creates exam</a:t>
            </a:r>
          </a:p>
          <a:p>
            <a:r>
              <a:rPr lang="en-US" dirty="0"/>
              <a:t>Questions (MCQ &amp; coding) are added</a:t>
            </a:r>
          </a:p>
          <a:p>
            <a:r>
              <a:rPr lang="en-US" dirty="0"/>
              <a:t>Student registers and logs in</a:t>
            </a:r>
          </a:p>
          <a:p>
            <a:r>
              <a:rPr lang="en-US" dirty="0"/>
              <a:t>Student attempts exam within time limit</a:t>
            </a:r>
          </a:p>
          <a:p>
            <a:r>
              <a:rPr lang="en-US" dirty="0"/>
              <a:t>Automatic evaluation is performed</a:t>
            </a:r>
          </a:p>
          <a:p>
            <a:r>
              <a:rPr lang="en-US" dirty="0"/>
              <a:t>Results are generated and displayed</a:t>
            </a:r>
          </a:p>
          <a:p>
            <a:r>
              <a:rPr lang="en-US" dirty="0"/>
              <a:t>📌 </a:t>
            </a:r>
            <a:r>
              <a:rPr lang="en-US" i="1" dirty="0"/>
              <a:t>Insert Workflow / Flowchart Diagram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282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management Continued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A55C2F-9130-6E77-0F3D-93673C1B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910" y="1924088"/>
            <a:ext cx="6424180" cy="46557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3" algn="l" rtl="0">
              <a:lnSpc>
                <a:spcPct val="80000"/>
              </a:lnSpc>
              <a:spcBef>
                <a:spcPct val="0"/>
              </a:spcBef>
            </a:pPr>
            <a:br>
              <a:rPr lang="en-US" dirty="0"/>
            </a:br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594360" y="340516"/>
            <a:ext cx="9778365" cy="723127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Project management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4B5668-0259-1A3D-3AA2-12BC3001B7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1" y="1201998"/>
            <a:ext cx="10067924" cy="537787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278129"/>
            <a:ext cx="10156767" cy="1494596"/>
          </a:xfrm>
        </p:spPr>
        <p:txBody>
          <a:bodyPr/>
          <a:lstStyle/>
          <a:p>
            <a:r>
              <a:rPr lang="en-US" dirty="0"/>
              <a:t>Results and Discussion: (1 or 2 slides)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DFBD4A-339F-6ADC-4E57-496CAFCB341F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and Future Enhancement (1 slide)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2838797" y="2551834"/>
            <a:ext cx="7607531" cy="3597470"/>
          </a:xfrm>
        </p:spPr>
        <p:txBody>
          <a:bodyPr/>
          <a:lstStyle/>
          <a:p>
            <a:r>
              <a:rPr lang="en-US" b="1" u="sng" dirty="0"/>
              <a:t>Conclusions</a:t>
            </a:r>
          </a:p>
          <a:p>
            <a:endParaRPr lang="en-US" b="1" u="sng" dirty="0"/>
          </a:p>
          <a:p>
            <a:r>
              <a:rPr lang="en-US" b="1" u="sng" dirty="0"/>
              <a:t>Future Enhancement</a:t>
            </a:r>
          </a:p>
          <a:p>
            <a:endParaRPr lang="en-US" b="1" u="sng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Details (1 slide)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1273233" y="2731943"/>
            <a:ext cx="9436331" cy="2505075"/>
          </a:xfrm>
        </p:spPr>
        <p:txBody>
          <a:bodyPr>
            <a:normAutofit/>
          </a:bodyPr>
          <a:lstStyle/>
          <a:p>
            <a:r>
              <a:rPr lang="en-US" dirty="0"/>
              <a:t>List of chapters to prepare project report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References ( 2 or 3 slides)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10516985" cy="3597470"/>
          </a:xfrm>
        </p:spPr>
        <p:txBody>
          <a:bodyPr/>
          <a:lstStyle/>
          <a:p>
            <a:r>
              <a:rPr lang="en-US" dirty="0"/>
              <a:t>(IEEE style is used mainly in Electronic and Electrical Engineering and Computer Science. This style sheet gives general guidelines based on the IEEE’s citation and referencing guide: </a:t>
            </a:r>
            <a:r>
              <a:rPr lang="en-US" dirty="0">
                <a:hlinkClick r:id="rId2"/>
              </a:rPr>
              <a:t>https://www.ieee.org/documents/ieeecitationref.pdf</a:t>
            </a:r>
            <a:r>
              <a:rPr lang="en-US" dirty="0"/>
              <a:t>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53419_Win32_SL_V5" id="{958D2C9E-948D-4354-BF9D-DF8AE3C2B240}" vid="{22D4A967-05D2-4D72-8594-54CFF34148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4B194E-8B30-4377-8C59-ECFB902D2A26}">
  <ds:schemaRefs>
    <ds:schemaRef ds:uri="16c05727-aa75-4e4a-9b5f-8a80a1165891"/>
    <ds:schemaRef ds:uri="http://purl.org/dc/terms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sharepoint/v3"/>
    <ds:schemaRef ds:uri="http://www.w3.org/XML/1998/namespace"/>
    <ds:schemaRef ds:uri="http://purl.org/dc/dcmitype/"/>
    <ds:schemaRef ds:uri="http://schemas.microsoft.com/office/infopath/2007/PartnerControls"/>
    <ds:schemaRef ds:uri="230e9df3-be65-4c73-a93b-d1236ebd677e"/>
    <ds:schemaRef ds:uri="71af3243-3dd4-4a8d-8c0d-dd76da1f02a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Geometric annual presentation</Template>
  <TotalTime>262</TotalTime>
  <Words>737</Words>
  <Application>Microsoft Office PowerPoint</Application>
  <PresentationFormat>Widescreen</PresentationFormat>
  <Paragraphs>126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Franklin Gothic Book</vt:lpstr>
      <vt:lpstr>Franklin Gothic Demi</vt:lpstr>
      <vt:lpstr>Times New Roman</vt:lpstr>
      <vt:lpstr>Wingdings</vt:lpstr>
      <vt:lpstr>Custom</vt:lpstr>
      <vt:lpstr>Siddaganga Institute of Technology, Tumkur</vt:lpstr>
      <vt:lpstr>Agenda</vt:lpstr>
      <vt:lpstr>Abstract(One Slide) </vt:lpstr>
      <vt:lpstr>Introduction ( One Slide)</vt:lpstr>
      <vt:lpstr>Project Objectives </vt:lpstr>
      <vt:lpstr>Literature Survey (2 or 3 slides) </vt:lpstr>
      <vt:lpstr>Literature Survey</vt:lpstr>
      <vt:lpstr>Project Methodology</vt:lpstr>
      <vt:lpstr>Project Methodology</vt:lpstr>
      <vt:lpstr>Project Methodology</vt:lpstr>
      <vt:lpstr>Project management Continued</vt:lpstr>
      <vt:lpstr> </vt:lpstr>
      <vt:lpstr>Results and Discussion: (1 or 2 slides)</vt:lpstr>
      <vt:lpstr>Conclusions and Future Enhancement (1 slide)</vt:lpstr>
      <vt:lpstr>Chapter Details (1 slide)</vt:lpstr>
      <vt:lpstr>References ( 2 or 3 slides)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Siddaganga Institute of Technology, Tumkur</dc:title>
  <dc:creator>Prashanth  G K</dc:creator>
  <cp:lastModifiedBy>Chandu G</cp:lastModifiedBy>
  <cp:revision>16</cp:revision>
  <cp:lastPrinted>2026-01-22T05:37:14Z</cp:lastPrinted>
  <dcterms:created xsi:type="dcterms:W3CDTF">2024-06-08T06:40:30Z</dcterms:created>
  <dcterms:modified xsi:type="dcterms:W3CDTF">2026-01-24T02:30:46Z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